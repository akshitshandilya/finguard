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75746"/>
            <a:ext cx="7620000" cy="581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556771"/>
            <a:ext cx="11049000" cy="1066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059" y="1416919"/>
            <a:ext cx="2285979" cy="1341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0490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B5442"/>
                </a:solidFill>
                <a:latin typeface="IBM Plex Mono"/>
              </a:rPr>
              <a:t>SOFTWARE ENGINEERING PROJECT FULL-STACK + ML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790575"/>
            <a:ext cx="11049000" cy="19050"/>
          </a:xfrm>
          <a:prstGeom prst="rect">
            <a:avLst/>
          </a:prstGeom>
          <a:solidFill>
            <a:srgbClr val="21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1571625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712A15"/>
                </a:solidFill>
                <a:latin typeface="IBM Plex Mono"/>
              </a:rPr>
              <a:t>FINANCIAL RISK &amp;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43100"/>
            <a:ext cx="11601450" cy="2487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9660"/>
              </a:lnSpc>
            </a:pPr>
            <a:r>
              <a:rPr sz="10500" b="1" i="0" u="none" dirty="0">
                <a:solidFill>
                  <a:srgbClr val="211C14"/>
                </a:solidFill>
                <a:latin typeface="Barlow Condensed"/>
              </a:rPr>
              <a:t>FINGUARD</a:t>
            </a:r>
            <a:r>
              <a:rPr dirty="0"/>
              <a:t>
</a:t>
            </a:r>
            <a:r>
              <a:rPr sz="10500" b="1" i="0" u="none" dirty="0">
                <a:solidFill>
                  <a:srgbClr val="211C14"/>
                </a:solidFill>
                <a:latin typeface="Barlow Condensed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4758630"/>
            <a:ext cx="7620000" cy="621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 dirty="0">
                <a:solidFill>
                  <a:srgbClr val="5B5442"/>
                </a:solidFill>
                <a:latin typeface="Inter"/>
              </a:rPr>
              <a:t>A hybrid rules, machine-learning and behavioral-analysis platform for scoring financial transactions in real time  and explaining every decision it makes.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7452121"/>
            <a:ext cx="11049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1" u="none">
                <a:solidFill>
                  <a:srgbClr val="8B8267"/>
                </a:solidFill>
                <a:latin typeface="IBM Plex Mono"/>
              </a:rPr>
              <a:t> Educational software engineering project. Figures throughout are illustrative and not audited market or compliance data.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3571" y="1648704"/>
            <a:ext cx="1575061" cy="46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712A15"/>
                </a:solidFill>
                <a:latin typeface="Barlow Condensed ExtraBold"/>
              </a:rPr>
              <a:t>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4933" y="1947098"/>
            <a:ext cx="1587593" cy="579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sz="2100" b="0" i="0" u="none">
                <a:solidFill>
                  <a:srgbClr val="712A15"/>
                </a:solidFill>
                <a:latin typeface="Barlow Condensed ExtraBold"/>
              </a:rPr>
              <a:t>CASE FILE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F823742-301B-E8EC-65D6-D5C23A4D9C19}"/>
              </a:ext>
            </a:extLst>
          </p:cNvPr>
          <p:cNvGrpSpPr/>
          <p:nvPr/>
        </p:nvGrpSpPr>
        <p:grpSpPr>
          <a:xfrm>
            <a:off x="610132" y="6644958"/>
            <a:ext cx="10858500" cy="219075"/>
            <a:chOff x="571500" y="6813946"/>
            <a:chExt cx="10858500" cy="219075"/>
          </a:xfrm>
        </p:grpSpPr>
        <p:sp>
          <p:nvSpPr>
            <p:cNvPr id="13" name="TextBox 12"/>
            <p:cNvSpPr txBox="1"/>
            <p:nvPr/>
          </p:nvSpPr>
          <p:spPr>
            <a:xfrm>
              <a:off x="571500" y="6813946"/>
              <a:ext cx="2019300" cy="440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sz="900" b="0" i="0" u="none" dirty="0">
                  <a:solidFill>
                    <a:srgbClr val="8B8267"/>
                  </a:solidFill>
                  <a:latin typeface="IBM Plex Mono"/>
                </a:rPr>
                <a:t>FILED AS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1500" y="7033021"/>
              <a:ext cx="2019300" cy="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200" b="0" i="0" u="none">
                  <a:solidFill>
                    <a:srgbClr val="211C14"/>
                  </a:solidFill>
                  <a:latin typeface="IBM Plex Mono SemiBold"/>
                </a:rPr>
                <a:t>FG‑AI / 2026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81300" y="6813946"/>
              <a:ext cx="2019300" cy="440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sz="900" b="0" i="0" u="none">
                  <a:solidFill>
                    <a:srgbClr val="8B8267"/>
                  </a:solidFill>
                  <a:latin typeface="IBM Plex Mono"/>
                </a:rPr>
                <a:t>STACK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81300" y="7033021"/>
              <a:ext cx="2019300" cy="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200" b="0" i="0" u="none">
                  <a:solidFill>
                    <a:srgbClr val="211C14"/>
                  </a:solidFill>
                  <a:latin typeface="IBM Plex Mono SemiBold"/>
                </a:rPr>
                <a:t>MERN + FastAPI/ML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991100" y="6813946"/>
              <a:ext cx="2019300" cy="440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sz="900" b="0" i="0" u="none">
                  <a:solidFill>
                    <a:srgbClr val="8B8267"/>
                  </a:solidFill>
                  <a:latin typeface="IBM Plex Mono"/>
                </a:rPr>
                <a:t>DATA LAYER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91100" y="7033021"/>
              <a:ext cx="2019300" cy="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200" b="0" i="0" u="none">
                  <a:solidFill>
                    <a:srgbClr val="211C14"/>
                  </a:solidFill>
                  <a:latin typeface="IBM Plex Mono SemiBold"/>
                </a:rPr>
                <a:t>PostgreSQL + Redis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00900" y="6813946"/>
              <a:ext cx="2019300" cy="440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sz="900" b="0" i="0" u="none">
                  <a:solidFill>
                    <a:srgbClr val="8B8267"/>
                  </a:solidFill>
                  <a:latin typeface="IBM Plex Mono"/>
                </a:rPr>
                <a:t>DEPLOYMENT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00900" y="7033021"/>
              <a:ext cx="2019300" cy="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200" b="0" i="0" u="none">
                  <a:solidFill>
                    <a:srgbClr val="211C14"/>
                  </a:solidFill>
                  <a:latin typeface="IBM Plex Mono SemiBold"/>
                </a:rPr>
                <a:t>Containerized, CI/CD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410700" y="6813946"/>
              <a:ext cx="2019300" cy="440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sz="900" b="0" i="0" u="none" dirty="0">
                  <a:solidFill>
                    <a:srgbClr val="8B8267"/>
                  </a:solidFill>
                  <a:latin typeface="IBM Plex Mono"/>
                </a:rPr>
                <a:t>CONTENTS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410700" y="7033021"/>
              <a:ext cx="2019300" cy="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200" b="0" i="0" u="none" dirty="0">
                  <a:solidFill>
                    <a:srgbClr val="211C14"/>
                  </a:solidFill>
                  <a:latin typeface="IBM Plex Mono SemiBold"/>
                </a:rPr>
                <a:t>Executive Overview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57300"/>
            <a:ext cx="497205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38662"/>
            <a:ext cx="497205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1257300"/>
            <a:ext cx="5600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615329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11C14"/>
                </a:solidFill>
                <a:latin typeface="Inter"/>
              </a:rPr>
              <a:t>Motivation &amp; Problem</a:t>
            </a:r>
            <a:r>
              <a:rPr sz="1200" b="0" i="0" u="none">
                <a:solidFill>
                  <a:srgbClr val="211C14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5B5442"/>
                </a:solidFill>
                <a:latin typeface="Inter"/>
              </a:rPr>
              <a:t>Why legacy fraud detection needed rebuilding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897" y="504825"/>
            <a:ext cx="18666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sz="975" b="0" i="0" u="none">
                <a:solidFill>
                  <a:srgbClr val="5B5442"/>
                </a:solidFill>
                <a:latin typeface="IBM Plex Mono"/>
              </a:rPr>
              <a:t>FinGuard AI — Case File</a:t>
            </a:r>
            <a:r>
              <a:t>
</a:t>
            </a:r>
            <a:r>
              <a:rPr sz="975" b="0" i="0" u="none">
                <a:solidFill>
                  <a:srgbClr val="5B5442"/>
                </a:solidFill>
                <a:latin typeface="IBM Plex Mono"/>
              </a:rPr>
              <a:t> Exhibit 1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638300"/>
            <a:ext cx="5220652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25"/>
              </a:lnSpc>
            </a:pPr>
            <a:r>
              <a:rPr sz="2550" b="1" i="0" u="none">
                <a:solidFill>
                  <a:srgbClr val="211C14"/>
                </a:solidFill>
                <a:latin typeface="Barlow Condensed"/>
              </a:rPr>
              <a:t>RULE ENGINES ALONE</a:t>
            </a:r>
            <a:r>
              <a:t>
</a:t>
            </a:r>
            <a:r>
              <a:rPr sz="2550" b="1" i="0" u="none">
                <a:solidFill>
                  <a:srgbClr val="211C14"/>
                </a:solidFill>
                <a:latin typeface="Barlow Condensed"/>
              </a:rPr>
              <a:t> CAN'T KEEP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752725"/>
            <a:ext cx="4972050" cy="1357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5B5442"/>
                </a:solidFill>
                <a:latin typeface="Inter"/>
              </a:rPr>
              <a:t>Legacy systems flag transactions against a fixed rulebook. That approach breaks down in predictable ways: it can't see patterns it hasn't been told to look for, it weighs every signal the same, and it can't say why it blocked a payment.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526" y="6274517"/>
            <a:ext cx="48006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0" i="0" u="none" dirty="0">
                <a:solidFill>
                  <a:srgbClr val="211C14"/>
                </a:solidFill>
                <a:latin typeface="Barlow Condensed Medium"/>
              </a:rPr>
              <a:t>"Detection is one subsystem, not the whole platform. We needed a pipeline that explains itself."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6252606"/>
            <a:ext cx="38100" cy="544710"/>
          </a:xfrm>
          <a:prstGeom prst="rect">
            <a:avLst/>
          </a:prstGeom>
          <a:solidFill>
            <a:srgbClr val="712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19800" y="1638300"/>
          <a:ext cx="5600700" cy="3686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723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8B8267"/>
                          </a:solidFill>
                          <a:latin typeface="IBM Plex Mono"/>
                        </a:rPr>
                        <a:t>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11C14"/>
                          </a:solidFill>
                          <a:latin typeface="Inter SemiBold"/>
                        </a:rPr>
                        <a:t>Static rules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5B5442"/>
                          </a:solidFill>
                          <a:latin typeface="Inter"/>
                        </a:rPr>
                        <a:t>New fraud patterns go undetected until someone manually writes a rule for them.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8B8267"/>
                          </a:solidFill>
                          <a:latin typeface="IBM Plex Mono"/>
                        </a:rPr>
                        <a:t>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11C14"/>
                          </a:solidFill>
                          <a:latin typeface="Inter SemiBold"/>
                        </a:rPr>
                        <a:t>High false positives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5B5442"/>
                          </a:solidFill>
                          <a:latin typeface="Inter"/>
                        </a:rPr>
                        <a:t>Blunt thresholds block legitimate customers as often as they catch bad actors.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8B8267"/>
                          </a:solidFill>
                          <a:latin typeface="IBM Plex Mono"/>
                        </a:rPr>
                        <a:t>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11C14"/>
                          </a:solidFill>
                          <a:latin typeface="Inter SemiBold"/>
                        </a:rPr>
                        <a:t>Delayed detection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5B5442"/>
                          </a:solidFill>
                          <a:latin typeface="Inter"/>
                        </a:rPr>
                        <a:t>Batch-style checks catch fraud after the money has already moved.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8B8267"/>
                          </a:solidFill>
                          <a:latin typeface="IBM Plex Mono"/>
                        </a:rPr>
                        <a:t>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11C14"/>
                          </a:solidFill>
                          <a:latin typeface="Inter SemiBold"/>
                        </a:rPr>
                        <a:t>Manual investigation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5B5442"/>
                          </a:solidFill>
                          <a:latin typeface="Inter"/>
                        </a:rPr>
                        <a:t>Every flagged case still needs an analyst to piece together the evidence by hand.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23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8B8267"/>
                          </a:solidFill>
                          <a:latin typeface="IBM Plex Mono"/>
                        </a:rPr>
                        <a:t>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211C14"/>
                          </a:solidFill>
                          <a:latin typeface="Inter SemiBold"/>
                        </a:rPr>
                        <a:t>Poor adaptability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5B5442"/>
                          </a:solidFill>
                          <a:latin typeface="Inter"/>
                        </a:rPr>
                        <a:t>Limited contextual analysis and little explainability behind each decision.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19662"/>
            <a:ext cx="1940569" cy="30003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8269" y="4919662"/>
            <a:ext cx="1940569" cy="300037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295900"/>
            <a:ext cx="1861839" cy="300037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9539" y="5295900"/>
            <a:ext cx="2019151" cy="300037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672137"/>
            <a:ext cx="2412503" cy="3000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95425"/>
            <a:ext cx="1104900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3225"/>
            <a:ext cx="110490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24225"/>
            <a:ext cx="2533650" cy="80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3324225"/>
            <a:ext cx="2533650" cy="800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324225"/>
            <a:ext cx="2533650" cy="800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0" y="3324225"/>
            <a:ext cx="2533650" cy="800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229225"/>
            <a:ext cx="2533650" cy="800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5229225"/>
            <a:ext cx="2533650" cy="800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5229225"/>
            <a:ext cx="2533650" cy="800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0" y="5229225"/>
            <a:ext cx="2533650" cy="800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4267200"/>
            <a:ext cx="3587799" cy="523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2174" y="4267200"/>
            <a:ext cx="3587799" cy="523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5224" y="4267200"/>
            <a:ext cx="3587799" cy="523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6315075"/>
            <a:ext cx="70485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0" y="6315075"/>
            <a:ext cx="3524250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1876425"/>
            <a:ext cx="857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5B5442"/>
                </a:solidFill>
                <a:latin typeface="Inter"/>
              </a:rPr>
              <a:t>FinGuard layers deterministic rules, a supervised fraud model, unsupervised anomaly detection, behavioral analysis and explainability into a single real-time scoring pipeline.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544487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11C14"/>
                </a:solidFill>
                <a:latin typeface="Inter"/>
              </a:rPr>
              <a:t>Our Solution</a:t>
            </a:r>
            <a:r>
              <a:rPr sz="1200" b="0" i="0" u="none">
                <a:solidFill>
                  <a:srgbClr val="211C14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5B5442"/>
                </a:solidFill>
                <a:latin typeface="Inter"/>
              </a:rPr>
              <a:t>End-to-end workflow &amp; real-time decision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3897" y="504825"/>
            <a:ext cx="18666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sz="975" b="0" i="0" u="none">
                <a:solidFill>
                  <a:srgbClr val="5B5442"/>
                </a:solidFill>
                <a:latin typeface="IBM Plex Mono"/>
              </a:rPr>
              <a:t>FinGuard AI — Case File</a:t>
            </a:r>
            <a:r>
              <a:t>
</a:t>
            </a:r>
            <a:r>
              <a:rPr sz="975" b="0" i="0" u="none">
                <a:solidFill>
                  <a:srgbClr val="5B5442"/>
                </a:solidFill>
                <a:latin typeface="IBM Plex Mono"/>
              </a:rPr>
              <a:t> Exhibit 2 of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1350" y="3609975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8267"/>
                </a:solidFill>
                <a:latin typeface="IBM Plex Mono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9800" y="3609975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8267"/>
                </a:solidFill>
                <a:latin typeface="IBM Plex Mono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0" y="3609975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8267"/>
                </a:solidFill>
                <a:latin typeface="IBM Plex Mono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4867275"/>
            <a:ext cx="11049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5B5442"/>
                </a:solidFill>
                <a:latin typeface="IBM Plex Mono"/>
              </a:rPr>
              <a:t>PARALLEL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1350" y="5514975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8267"/>
                </a:solidFill>
                <a:latin typeface="IBM Plex Mono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9800" y="5514975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8267"/>
                </a:solidFill>
                <a:latin typeface="IBM Plex Mono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0" y="5514975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B8267"/>
                </a:solidFill>
                <a:latin typeface="IBM Plex Mono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125" y="3438525"/>
            <a:ext cx="2438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712A15"/>
                </a:solidFill>
                <a:latin typeface="IBM Plex Mono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0187" y="3648075"/>
            <a:ext cx="676275" cy="3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sz="1125" b="0" i="0" u="none">
                <a:solidFill>
                  <a:srgbClr val="211C14"/>
                </a:solidFill>
                <a:latin typeface="Inter SemiBold"/>
              </a:rPr>
              <a:t>Customer</a:t>
            </a:r>
            <a:r>
              <a:t>
</a:t>
            </a:r>
            <a:r>
              <a:rPr sz="1125" b="0" i="0" u="none">
                <a:solidFill>
                  <a:srgbClr val="211C14"/>
                </a:solidFill>
                <a:latin typeface="Inter SemiBold"/>
              </a:rPr>
              <a:t> 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7575" y="3438525"/>
            <a:ext cx="2438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712A15"/>
                </a:solidFill>
                <a:latin typeface="IBM Plex Mono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9100" y="3648075"/>
            <a:ext cx="895350" cy="3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sz="1125" b="0" i="0" u="none">
                <a:solidFill>
                  <a:srgbClr val="211C14"/>
                </a:solidFill>
                <a:latin typeface="Inter SemiBold"/>
              </a:rPr>
              <a:t>API Gateway</a:t>
            </a:r>
            <a:r>
              <a:t>
</a:t>
            </a:r>
            <a:r>
              <a:rPr sz="1125" b="0" i="0" u="none">
                <a:solidFill>
                  <a:srgbClr val="211C14"/>
                </a:solidFill>
                <a:latin typeface="Inter SemiBold"/>
              </a:rPr>
              <a:t> JWT + RBAC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6025" y="3438525"/>
            <a:ext cx="2438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712A15"/>
                </a:solidFill>
                <a:latin typeface="IBM Plex Mono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05650" y="3648075"/>
            <a:ext cx="819150" cy="3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sz="1125" b="0" i="0" u="none">
                <a:solidFill>
                  <a:srgbClr val="211C14"/>
                </a:solidFill>
                <a:latin typeface="Inter SemiBold"/>
              </a:rPr>
              <a:t>Transaction</a:t>
            </a:r>
            <a:r>
              <a:t>
</a:t>
            </a:r>
            <a:r>
              <a:rPr sz="1125" b="0" i="0" u="none">
                <a:solidFill>
                  <a:srgbClr val="211C14"/>
                </a:solidFill>
                <a:latin typeface="Inter SemiBold"/>
              </a:rPr>
              <a:t>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475" y="3438525"/>
            <a:ext cx="2438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712A15"/>
                </a:solidFill>
                <a:latin typeface="IBM Plex Mono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1250" y="3648075"/>
            <a:ext cx="704850" cy="3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sz="1125" b="0" i="0" u="none">
                <a:solidFill>
                  <a:srgbClr val="211C14"/>
                </a:solidFill>
                <a:latin typeface="Inter SemiBold"/>
              </a:rPr>
              <a:t>Feature</a:t>
            </a:r>
            <a:r>
              <a:t>
</a:t>
            </a:r>
            <a:r>
              <a:rPr sz="1125" b="0" i="0" u="none">
                <a:solidFill>
                  <a:srgbClr val="211C14"/>
                </a:solidFill>
                <a:latin typeface="Inter SemiBold"/>
              </a:rPr>
              <a:t> Extraction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125" y="5343525"/>
            <a:ext cx="2438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712A15"/>
                </a:solidFill>
                <a:latin typeface="IBM Plex Mono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4462" y="5553075"/>
            <a:ext cx="847725" cy="3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sz="1125" b="0" i="0" u="none">
                <a:solidFill>
                  <a:srgbClr val="211C14"/>
                </a:solidFill>
                <a:latin typeface="Inter SemiBold"/>
              </a:rPr>
              <a:t>Risk</a:t>
            </a:r>
            <a:r>
              <a:t>
</a:t>
            </a:r>
            <a:r>
              <a:rPr sz="1125" b="0" i="0" u="none">
                <a:solidFill>
                  <a:srgbClr val="211C14"/>
                </a:solidFill>
                <a:latin typeface="Inter SemiBold"/>
              </a:rPr>
              <a:t> Aggregation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7575" y="5343525"/>
            <a:ext cx="2438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712A15"/>
                </a:solidFill>
                <a:latin typeface="IBM Plex Mono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19575" y="5553075"/>
            <a:ext cx="914400" cy="3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sz="1125" b="0" i="0" u="none">
                <a:solidFill>
                  <a:srgbClr val="211C14"/>
                </a:solidFill>
                <a:latin typeface="Inter SemiBold"/>
              </a:rPr>
              <a:t>Final Risk</a:t>
            </a:r>
            <a:r>
              <a:t>
</a:t>
            </a:r>
            <a:r>
              <a:rPr sz="1125" b="0" i="0" u="none">
                <a:solidFill>
                  <a:srgbClr val="211C14"/>
                </a:solidFill>
                <a:latin typeface="Inter SemiBold"/>
              </a:rPr>
              <a:t> Score, 0–100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6025" y="5343525"/>
            <a:ext cx="2438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712A15"/>
                </a:solidFill>
                <a:latin typeface="IBM Plex Mono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8987" y="5553075"/>
            <a:ext cx="752475" cy="3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sz="1125" b="0" i="0" u="none">
                <a:solidFill>
                  <a:srgbClr val="211C14"/>
                </a:solidFill>
                <a:latin typeface="Inter SemiBold"/>
              </a:rPr>
              <a:t>Analyst</a:t>
            </a:r>
            <a:r>
              <a:t>
</a:t>
            </a:r>
            <a:r>
              <a:rPr sz="1125" b="0" i="0" u="none">
                <a:solidFill>
                  <a:srgbClr val="211C14"/>
                </a:solidFill>
                <a:latin typeface="Inter SemiBold"/>
              </a:rPr>
              <a:t>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4475" y="5343525"/>
            <a:ext cx="2438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712A15"/>
                </a:solidFill>
                <a:latin typeface="IBM Plex Mono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1712" y="5553075"/>
            <a:ext cx="923925" cy="3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sz="1125" b="0" i="0" u="none">
                <a:solidFill>
                  <a:srgbClr val="211C14"/>
                </a:solidFill>
                <a:latin typeface="Inter SemiBold"/>
              </a:rPr>
              <a:t>Decision →</a:t>
            </a:r>
            <a:r>
              <a:t>
</a:t>
            </a:r>
            <a:r>
              <a:rPr sz="1125" b="0" i="0" u="none">
                <a:solidFill>
                  <a:srgbClr val="211C14"/>
                </a:solidFill>
                <a:latin typeface="Inter SemiBold"/>
              </a:rPr>
              <a:t> Feedback DB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1C8C021-13B0-6155-6E85-C592227C3950}"/>
              </a:ext>
            </a:extLst>
          </p:cNvPr>
          <p:cNvGrpSpPr/>
          <p:nvPr/>
        </p:nvGrpSpPr>
        <p:grpSpPr>
          <a:xfrm>
            <a:off x="466724" y="6587689"/>
            <a:ext cx="7048500" cy="509385"/>
            <a:chOff x="571500" y="6838950"/>
            <a:chExt cx="7048500" cy="509385"/>
          </a:xfrm>
        </p:grpSpPr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1500" y="6838950"/>
              <a:ext cx="7048500" cy="238125"/>
            </a:xfrm>
            <a:prstGeom prst="rect">
              <a:avLst/>
            </a:prstGeom>
          </p:spPr>
        </p:pic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1025" y="6848475"/>
              <a:ext cx="3514725" cy="219075"/>
            </a:xfrm>
            <a:prstGeom prst="rect">
              <a:avLst/>
            </a:prstGeom>
          </p:spPr>
        </p:pic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095750" y="6848475"/>
              <a:ext cx="1405830" cy="219075"/>
            </a:xfrm>
            <a:prstGeom prst="rect">
              <a:avLst/>
            </a:prstGeom>
          </p:spPr>
        </p:pic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501580" y="6848475"/>
              <a:ext cx="1054298" cy="219075"/>
            </a:xfrm>
            <a:prstGeom prst="rect">
              <a:avLst/>
            </a:prstGeom>
          </p:spPr>
        </p:pic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555878" y="6848475"/>
              <a:ext cx="702915" cy="219075"/>
            </a:xfrm>
            <a:prstGeom prst="rect">
              <a:avLst/>
            </a:prstGeom>
          </p:spPr>
        </p:pic>
        <p:pic>
          <p:nvPicPr>
            <p:cNvPr id="22" name="Picture 21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258794" y="6848475"/>
              <a:ext cx="351383" cy="219075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571500" y="7172325"/>
              <a:ext cx="7048500" cy="1760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2"/>
                </a:lnSpc>
              </a:pPr>
              <a:endParaRPr sz="975" b="0" i="0" u="none" dirty="0">
                <a:solidFill>
                  <a:srgbClr val="5B5442"/>
                </a:solidFill>
                <a:latin typeface="IBM Plex Mono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619125" y="4619625"/>
            <a:ext cx="358779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5B5442"/>
                </a:solidFill>
                <a:latin typeface="IBM Plex Mono"/>
              </a:rPr>
              <a:t>deterministic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02174" y="4619625"/>
            <a:ext cx="358779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5B5442"/>
                </a:solidFill>
                <a:latin typeface="IBM Plex Mono"/>
              </a:rPr>
              <a:t>supervised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5224" y="4619625"/>
            <a:ext cx="358779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5B5442"/>
                </a:solidFill>
                <a:latin typeface="IBM Plex Mono"/>
              </a:rPr>
              <a:t>anomaly detection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A29FAE2-518F-C937-B7C1-D88B85940CC4}"/>
              </a:ext>
            </a:extLst>
          </p:cNvPr>
          <p:cNvGrpSpPr/>
          <p:nvPr/>
        </p:nvGrpSpPr>
        <p:grpSpPr>
          <a:xfrm>
            <a:off x="8075864" y="6567488"/>
            <a:ext cx="3348632" cy="300037"/>
            <a:chOff x="8096250" y="6696075"/>
            <a:chExt cx="3348632" cy="300037"/>
          </a:xfrm>
        </p:grpSpPr>
        <p:pic>
          <p:nvPicPr>
            <p:cNvPr id="53" name="Picture 52" descr="imag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096250" y="6696075"/>
              <a:ext cx="681632" cy="300037"/>
            </a:xfrm>
            <a:prstGeom prst="rect">
              <a:avLst/>
            </a:prstGeom>
          </p:spPr>
        </p:pic>
        <p:pic>
          <p:nvPicPr>
            <p:cNvPr id="54" name="Picture 53" descr="image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854082" y="6696075"/>
              <a:ext cx="839092" cy="300037"/>
            </a:xfrm>
            <a:prstGeom prst="rect">
              <a:avLst/>
            </a:prstGeom>
          </p:spPr>
        </p:pic>
        <p:pic>
          <p:nvPicPr>
            <p:cNvPr id="55" name="Picture 54" descr="image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769375" y="6696075"/>
              <a:ext cx="917674" cy="300037"/>
            </a:xfrm>
            <a:prstGeom prst="rect">
              <a:avLst/>
            </a:prstGeom>
          </p:spPr>
        </p:pic>
        <p:pic>
          <p:nvPicPr>
            <p:cNvPr id="56" name="Picture 55" descr="image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763250" y="6696075"/>
              <a:ext cx="681632" cy="3000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3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57300"/>
            <a:ext cx="5286375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33550"/>
            <a:ext cx="5286375" cy="464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257300"/>
            <a:ext cx="5286375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4033837"/>
            <a:ext cx="5286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6425" y="3055143"/>
            <a:ext cx="3295650" cy="114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6425" y="3317081"/>
            <a:ext cx="3295650" cy="114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6425" y="3579018"/>
            <a:ext cx="3295650" cy="114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6425" y="3840956"/>
            <a:ext cx="3295650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6425" y="4102893"/>
            <a:ext cx="3295650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608781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211C14"/>
                </a:solidFill>
                <a:latin typeface="Inter"/>
              </a:rPr>
              <a:t>Evidence &amp; Impact</a:t>
            </a:r>
            <a:r>
              <a:rPr sz="1200" b="0" i="0" u="none">
                <a:solidFill>
                  <a:srgbClr val="211C14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5B5442"/>
                </a:solidFill>
                <a:latin typeface="Inter"/>
              </a:rPr>
              <a:t>Explainability, value delivered &amp; future outlook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897" y="504825"/>
            <a:ext cx="18666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sz="975" b="0" i="0" u="none">
                <a:solidFill>
                  <a:srgbClr val="5B5442"/>
                </a:solidFill>
                <a:latin typeface="IBM Plex Mono"/>
              </a:rPr>
              <a:t>FinGuard AI — Case File</a:t>
            </a:r>
            <a:r>
              <a:t>
</a:t>
            </a:r>
            <a:r>
              <a:rPr sz="975" b="0" i="0" u="none">
                <a:solidFill>
                  <a:srgbClr val="5B5442"/>
                </a:solidFill>
                <a:latin typeface="IBM Plex Mono"/>
              </a:rPr>
              <a:t> Exhibit 3 of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4125" y="5734050"/>
            <a:ext cx="528637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5B5442"/>
                </a:solidFill>
                <a:latin typeface="Barlow Condensed SemiBold"/>
              </a:rPr>
              <a:t>FINGUARD TURNS FRAUD DETECTION FROM A STATIC, RULE-BOUND PROCESS INTO AN ADAPTIVE, EXPLAINABLE RISK PLATFORM.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4125" y="5543550"/>
            <a:ext cx="5286375" cy="19050"/>
          </a:xfrm>
          <a:prstGeom prst="rect">
            <a:avLst/>
          </a:prstGeom>
          <a:solidFill>
            <a:srgbClr val="21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675" y="1943100"/>
            <a:ext cx="47720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5442"/>
                </a:solidFill>
                <a:latin typeface="Inter"/>
              </a:rPr>
              <a:t>Exhibit — Transaction Review</a:t>
            </a:r>
            <a:r>
              <a:rPr sz="1200" b="0" i="0" u="none">
                <a:solidFill>
                  <a:srgbClr val="211C14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5B5442"/>
                </a:solidFill>
                <a:latin typeface="Inter"/>
              </a:rPr>
              <a:t>Amount ₹85,000 · normal range ₹5,000 – ₹10,000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675" y="2409825"/>
            <a:ext cx="4772025" cy="9525"/>
          </a:xfrm>
          <a:prstGeom prst="rect">
            <a:avLst/>
          </a:prstGeom>
          <a:solidFill>
            <a:srgbClr val="21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675" y="2562225"/>
            <a:ext cx="47720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211C14"/>
                </a:solidFill>
                <a:latin typeface="Inter"/>
              </a:rPr>
              <a:t>SHAP contribution to score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4414837"/>
            <a:ext cx="1153715" cy="30003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4040" y="4414837"/>
            <a:ext cx="1704528" cy="300037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44769" y="4414837"/>
            <a:ext cx="1704528" cy="300037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4125" y="4791075"/>
            <a:ext cx="1783109" cy="300037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3434" y="4791075"/>
            <a:ext cx="1625798" cy="3000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8675" y="4700587"/>
            <a:ext cx="18002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11C14"/>
                </a:solidFill>
                <a:latin typeface="IBM Plex Mono"/>
              </a:rPr>
              <a:t>Fraud probability </a:t>
            </a:r>
            <a:r>
              <a:rPr sz="1125" b="1" i="0" u="none">
                <a:solidFill>
                  <a:srgbClr val="211C14"/>
                </a:solidFill>
                <a:latin typeface="IBM Plex Mono"/>
              </a:rPr>
              <a:t>91%</a:t>
            </a:r>
            <a:r>
              <a:t>
</a:t>
            </a:r>
            <a:r>
              <a:rPr sz="1125" b="0" i="0" u="none">
                <a:solidFill>
                  <a:srgbClr val="211C14"/>
                </a:solidFill>
                <a:latin typeface="IBM Plex Mono"/>
              </a:rPr>
              <a:t> Risk score </a:t>
            </a:r>
            <a:r>
              <a:rPr sz="1125" b="1" i="0" u="none">
                <a:solidFill>
                  <a:srgbClr val="211C14"/>
                </a:solidFill>
                <a:latin typeface="IBM Plex Mono"/>
              </a:rPr>
              <a:t>87 /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4125" y="1733550"/>
            <a:ext cx="2625328" cy="233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11C14"/>
                </a:solidFill>
                <a:latin typeface="IBM Plex Mono SemiBold"/>
              </a:rPr>
              <a:t>BEFORE FINGUARD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4125" y="2024062"/>
            <a:ext cx="2500312" cy="19050"/>
          </a:xfrm>
          <a:prstGeom prst="rect">
            <a:avLst/>
          </a:prstGeom>
          <a:solidFill>
            <a:srgbClr val="21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20187" y="1733550"/>
            <a:ext cx="2625328" cy="233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211C14"/>
                </a:solidFill>
                <a:latin typeface="IBM Plex Mono SemiBold"/>
              </a:rPr>
              <a:t>WITH FINGUARD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20187" y="2024062"/>
            <a:ext cx="2500312" cy="19050"/>
          </a:xfrm>
          <a:prstGeom prst="rect">
            <a:avLst/>
          </a:prstGeom>
          <a:solidFill>
            <a:srgbClr val="21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675" y="3019425"/>
            <a:ext cx="9525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5B5442"/>
                </a:solidFill>
                <a:latin typeface="IBM Plex Mono"/>
              </a:rPr>
              <a:t>Amount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7325" y="3019425"/>
            <a:ext cx="333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sz="975" b="0" i="0" u="none">
                <a:solidFill>
                  <a:srgbClr val="211C14"/>
                </a:solidFill>
                <a:latin typeface="IBM Plex Mono SemiBold"/>
              </a:rPr>
              <a:t>+32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675" y="3281362"/>
            <a:ext cx="9525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5B5442"/>
                </a:solidFill>
                <a:latin typeface="IBM Plex Mono"/>
              </a:rPr>
              <a:t>New device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7325" y="3281362"/>
            <a:ext cx="333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sz="975" b="0" i="0" u="none">
                <a:solidFill>
                  <a:srgbClr val="211C14"/>
                </a:solidFill>
                <a:latin typeface="IBM Plex Mono SemiBold"/>
              </a:rPr>
              <a:t>+21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75" y="3543300"/>
            <a:ext cx="9525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5B5442"/>
                </a:solidFill>
                <a:latin typeface="IBM Plex Mono"/>
              </a:rPr>
              <a:t>Location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7325" y="3543300"/>
            <a:ext cx="333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sz="975" b="0" i="0" u="none">
                <a:solidFill>
                  <a:srgbClr val="211C14"/>
                </a:solidFill>
                <a:latin typeface="IBM Plex Mono SemiBold"/>
              </a:rPr>
              <a:t>+18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75" y="3805237"/>
            <a:ext cx="9525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5B5442"/>
                </a:solidFill>
                <a:latin typeface="IBM Plex Mono"/>
              </a:rPr>
              <a:t>Velocity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7325" y="3805237"/>
            <a:ext cx="333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sz="975" b="0" i="0" u="none">
                <a:solidFill>
                  <a:srgbClr val="211C14"/>
                </a:solidFill>
                <a:latin typeface="IBM Plex Mono SemiBold"/>
              </a:rPr>
              <a:t>+12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75" y="4067175"/>
            <a:ext cx="9525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5B5442"/>
                </a:solidFill>
                <a:latin typeface="IBM Plex Mono"/>
              </a:rPr>
              <a:t>History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7325" y="4067175"/>
            <a:ext cx="3333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462"/>
              </a:lnSpc>
            </a:pPr>
            <a:r>
              <a:rPr sz="975" b="0" i="0" u="none">
                <a:solidFill>
                  <a:srgbClr val="211C14"/>
                </a:solidFill>
                <a:latin typeface="IBM Plex Mono SemiBold"/>
              </a:rPr>
              <a:t>+4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6034" y="4518924"/>
            <a:ext cx="799591" cy="6300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34125" y="2214562"/>
            <a:ext cx="25003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5442"/>
                </a:solidFill>
                <a:latin typeface="Inter"/>
              </a:rPr>
              <a:t>Static rules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34125" y="2519362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34125" y="2605087"/>
            <a:ext cx="25003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5442"/>
                </a:solidFill>
                <a:latin typeface="Inter"/>
              </a:rPr>
              <a:t>Manual investigation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34125" y="2909887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34125" y="2995612"/>
            <a:ext cx="25003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5442"/>
                </a:solidFill>
                <a:latin typeface="Inter"/>
              </a:rPr>
              <a:t>Delayed detection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34125" y="3300412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34125" y="3386137"/>
            <a:ext cx="25003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5442"/>
                </a:solidFill>
                <a:latin typeface="Inter"/>
              </a:rPr>
              <a:t>High false positives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34125" y="3690937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20187" y="2214562"/>
            <a:ext cx="25003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5442"/>
                </a:solidFill>
                <a:latin typeface="Inter"/>
              </a:rPr>
              <a:t>Real-time risk scoring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20187" y="2519362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20187" y="2605087"/>
            <a:ext cx="25003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5442"/>
                </a:solidFill>
                <a:latin typeface="Inter"/>
              </a:rPr>
              <a:t>Hybrid ML + rules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20187" y="2909887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20187" y="2995612"/>
            <a:ext cx="25003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5442"/>
                </a:solidFill>
                <a:latin typeface="Inter"/>
              </a:rPr>
              <a:t>Explainable decisions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20187" y="3300412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20187" y="3386137"/>
            <a:ext cx="25003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5B5442"/>
                </a:solidFill>
                <a:latin typeface="Inter"/>
              </a:rPr>
              <a:t>Continuous learning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20187" y="3690937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876425" y="3055143"/>
            <a:ext cx="3295650" cy="114300"/>
          </a:xfrm>
          <a:prstGeom prst="rect">
            <a:avLst/>
          </a:prstGeom>
          <a:solidFill>
            <a:srgbClr val="9C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876425" y="3317081"/>
            <a:ext cx="2175123" cy="114300"/>
          </a:xfrm>
          <a:prstGeom prst="rect">
            <a:avLst/>
          </a:prstGeom>
          <a:solidFill>
            <a:srgbClr val="9C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876425" y="3579018"/>
            <a:ext cx="1845468" cy="114300"/>
          </a:xfrm>
          <a:prstGeom prst="rect">
            <a:avLst/>
          </a:prstGeom>
          <a:solidFill>
            <a:srgbClr val="9C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876425" y="3840956"/>
            <a:ext cx="1252239" cy="114300"/>
          </a:xfrm>
          <a:prstGeom prst="rect">
            <a:avLst/>
          </a:prstGeom>
          <a:solidFill>
            <a:srgbClr val="9C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876425" y="4102893"/>
            <a:ext cx="428327" cy="114300"/>
          </a:xfrm>
          <a:prstGeom prst="rect">
            <a:avLst/>
          </a:prstGeom>
          <a:solidFill>
            <a:srgbClr val="9C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34125" y="2519362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34125" y="2909887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34125" y="3300412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334125" y="3690937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120187" y="2519362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20187" y="2909887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120187" y="3300412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20187" y="3690937"/>
            <a:ext cx="2500312" cy="9525"/>
          </a:xfrm>
          <a:prstGeom prst="rect">
            <a:avLst/>
          </a:prstGeom>
          <a:solidFill>
            <a:srgbClr val="CFC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472</Words>
  <Application>Microsoft Office PowerPoint</Application>
  <PresentationFormat>Widescreen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Arial</vt:lpstr>
      <vt:lpstr>Barlow Condensed</vt:lpstr>
      <vt:lpstr>Barlow Condensed ExtraBold</vt:lpstr>
      <vt:lpstr>Barlow Condensed Medium</vt:lpstr>
      <vt:lpstr>Barlow Condensed SemiBold</vt:lpstr>
      <vt:lpstr>Calibri</vt:lpstr>
      <vt:lpstr>IBM Plex Mono</vt:lpstr>
      <vt:lpstr>IBM Plex Mono SemiBold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akshitshandilya09@outlook.com</cp:lastModifiedBy>
  <cp:revision>3</cp:revision>
  <dcterms:created xsi:type="dcterms:W3CDTF">2013-01-27T09:14:16Z</dcterms:created>
  <dcterms:modified xsi:type="dcterms:W3CDTF">2026-08-24T18:20:25Z</dcterms:modified>
  <cp:category/>
</cp:coreProperties>
</file>